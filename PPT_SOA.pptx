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906" r:id="rId9"/>
    <p:sldId id="259" r:id="rId10"/>
    <p:sldId id="260" r:id="rId11"/>
    <p:sldId id="904" r:id="rId12"/>
    <p:sldId id="9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Aug, 2026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193634"/>
              </p:ext>
            </p:extLst>
          </p:nvPr>
        </p:nvGraphicFramePr>
        <p:xfrm>
          <a:off x="8193271" y="4898509"/>
          <a:ext cx="3702050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Avinash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Yarukala</a:t>
                      </a:r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– 2420030568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Masuma Fathema - 2420030400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305997"/>
              </p:ext>
            </p:extLst>
          </p:nvPr>
        </p:nvGraphicFramePr>
        <p:xfrm>
          <a:off x="-795813" y="4774125"/>
          <a:ext cx="5902325" cy="13321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Mrs. E. Uma Shankari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88393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</a:rPr>
              <a:t>Auction Management Platform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3C74DC-11A7-9479-F95D-AAD3D935CABB}"/>
              </a:ext>
            </a:extLst>
          </p:cNvPr>
          <p:cNvSpPr txBox="1"/>
          <p:nvPr/>
        </p:nvSpPr>
        <p:spPr>
          <a:xfrm>
            <a:off x="998350" y="2020024"/>
            <a:ext cx="9622762" cy="28179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Traditional auctions are limited by </a:t>
            </a:r>
            <a:r>
              <a:rPr lang="en-IN" sz="2000" b="1" dirty="0"/>
              <a:t>geographical constraints</a:t>
            </a:r>
            <a:r>
              <a:rPr lang="en-IN" sz="2000" dirty="0"/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Lack of transparency can lead to </a:t>
            </a:r>
            <a:r>
              <a:rPr lang="en-IN" sz="2000" b="1" dirty="0"/>
              <a:t>bidding disputes</a:t>
            </a:r>
            <a:r>
              <a:rPr lang="en-IN" sz="2000" dirty="0"/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Manual coordination between sellers and bidders is inefficient.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Real-time bid tracking and payment settlement can be delayed.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There is a need for a </a:t>
            </a:r>
            <a:r>
              <a:rPr lang="en-IN" sz="2000" b="1" dirty="0"/>
              <a:t>secure, centralized and transparent online auction system</a:t>
            </a:r>
            <a:r>
              <a:rPr lang="en-IN" sz="20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8AD691-4D3C-67A3-9424-62CAE77074C0}"/>
              </a:ext>
            </a:extLst>
          </p:cNvPr>
          <p:cNvSpPr txBox="1"/>
          <p:nvPr/>
        </p:nvSpPr>
        <p:spPr>
          <a:xfrm>
            <a:off x="1081547" y="1487324"/>
            <a:ext cx="8809703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Develop a full-stack web-based auction platform.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Allow sellers to list items and schedule auctions.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Enable bidders to participate in real-time competitive bidding.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Implement a Bidding Engine with minimum bid-increment validation.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Support automated/proxy bidding.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Implement role-based access for buyers, sellers and administrators.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Automate payment, invoice generation and notifications.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Provide an admin dashboard for monitoring and reports.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5769911"/>
              </p:ext>
            </p:extLst>
          </p:nvPr>
        </p:nvGraphicFramePr>
        <p:xfrm>
          <a:off x="274646" y="689466"/>
          <a:ext cx="11642705" cy="512579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Bernhard Rumpe &amp; Guido </a:t>
                      </a:r>
                      <a:r>
                        <a:rPr lang="en-IN" sz="1400" dirty="0" err="1"/>
                        <a:t>Wimmel</a:t>
                      </a:r>
                      <a:r>
                        <a:rPr lang="en-IN" sz="1400" dirty="0"/>
                        <a:t> (2014)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A Framework for Realtime Online Auctions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Designed a web-based real-time auction architecture and identified functional and technical requirements for online auctions.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Demonstrates the importance of a robust architecture for </a:t>
                      </a:r>
                      <a:r>
                        <a:rPr lang="en-IN" sz="1400" b="1" dirty="0"/>
                        <a:t>real-time online bidding</a:t>
                      </a:r>
                      <a:r>
                        <a:rPr lang="en-IN" sz="1400" dirty="0"/>
                        <a:t> and scalable auction applications. 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Focuses mainly on architecture and development methodology; advanced features such as automated bidding and integrated payment workflows are not the main focus.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/>
                        <a:t>Gangshu</a:t>
                      </a:r>
                      <a:r>
                        <a:rPr lang="en-IN" sz="1400" dirty="0"/>
                        <a:t> Cai, Ying-Ju Chen &amp; </a:t>
                      </a:r>
                      <a:r>
                        <a:rPr lang="en-IN" sz="1400" dirty="0" err="1"/>
                        <a:t>Xiting</a:t>
                      </a:r>
                      <a:r>
                        <a:rPr lang="en-IN" sz="1400" dirty="0"/>
                        <a:t> Gong (2012)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Design of Online Auctions: Proxy versus Non-Proxy Settings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Compared </a:t>
                      </a:r>
                      <a:r>
                        <a:rPr lang="en-IN" sz="1400" b="1" dirty="0"/>
                        <a:t>proxy bidding</a:t>
                      </a:r>
                      <a:r>
                        <a:rPr lang="en-IN" sz="1400" dirty="0"/>
                        <a:t> and non-proxy bidding mechanisms and </a:t>
                      </a:r>
                      <a:r>
                        <a:rPr lang="en-IN" sz="1400" dirty="0" err="1"/>
                        <a:t>analyzed</a:t>
                      </a:r>
                      <a:r>
                        <a:rPr lang="en-IN" sz="1400" dirty="0"/>
                        <a:t> bidder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and seller revenue.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Proxy bidding can improve auction performance and seller revenue compared with non-proxy mechanisms.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Primarily focuses on auction mechanism/economic </a:t>
                      </a:r>
                      <a:r>
                        <a:rPr lang="en-IN" sz="1400" dirty="0" err="1"/>
                        <a:t>behavior</a:t>
                      </a:r>
                      <a:r>
                        <a:rPr lang="en-IN" sz="1400" dirty="0"/>
                        <a:t> rather than implementation of a complete full-stack auction platform.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V. S. Borkar, M. S. Dave &amp; R. K. </a:t>
                      </a:r>
                      <a:r>
                        <a:rPr lang="en-IN" sz="1400" dirty="0" err="1"/>
                        <a:t>Shyamasundar</a:t>
                      </a:r>
                      <a:r>
                        <a:rPr lang="en-IN" sz="1400" dirty="0"/>
                        <a:t> (2005)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Design and Implementation of </a:t>
                      </a:r>
                      <a:r>
                        <a:rPr lang="en-IN" sz="1400" dirty="0" err="1"/>
                        <a:t>SeTiA</a:t>
                      </a:r>
                      <a:r>
                        <a:rPr lang="en-IN" sz="1400" dirty="0"/>
                        <a:t>: Secure Multi Auction System I &amp; II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Developed a secure e-auction system supporting multiple auction mechanisms, secure payments, authentication, bid confidentiality and auction closure.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Shows that </a:t>
                      </a:r>
                      <a:r>
                        <a:rPr lang="en-IN" sz="1400" b="1" dirty="0"/>
                        <a:t>security, authentication, payment and bid confidentiality</a:t>
                      </a:r>
                      <a:r>
                        <a:rPr lang="en-IN" sz="1400" dirty="0"/>
                        <a:t> are important components of e-auction systems.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The system focuses heavily on security protocols and multiple auction mechanisms; modern real-time WebSocket-based interaction and proxy bidding integration are not its primary focus.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FBFD78-E80A-EF3A-6EAC-CC22F8602C8D}"/>
              </a:ext>
            </a:extLst>
          </p:cNvPr>
          <p:cNvSpPr txBox="1"/>
          <p:nvPr/>
        </p:nvSpPr>
        <p:spPr>
          <a:xfrm>
            <a:off x="1081548" y="1802804"/>
            <a:ext cx="9901083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Existing traditional systems depend heavily on manual coordination.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Some systems lack real-time bid synchronization.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Bid validation and minimum-increment enforcement may not be automated.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Continuous manual monitoring is required in conventional bidding.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Auction completion, payment and notification may involve separate manual processes.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Our platform integrates bidding, auction scheduling, payment and notifications into one system.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2BCD-35F2-A1A3-783A-BDB9BDD0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21C88C-ACA4-9B25-8FA4-B6AA3097C03B}"/>
              </a:ext>
            </a:extLst>
          </p:cNvPr>
          <p:cNvSpPr txBox="1"/>
          <p:nvPr/>
        </p:nvSpPr>
        <p:spPr>
          <a:xfrm>
            <a:off x="3048000" y="5663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Project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1CB7AE-F5D4-1253-77F9-1C4D8E000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483435-657E-1D90-DE25-EEB716CD3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80179"/>
            <a:ext cx="12280490" cy="111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11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81FCF9-4931-016F-A686-D734057F581C}"/>
              </a:ext>
            </a:extLst>
          </p:cNvPr>
          <p:cNvSpPr txBox="1"/>
          <p:nvPr/>
        </p:nvSpPr>
        <p:spPr>
          <a:xfrm>
            <a:off x="998736" y="1425676"/>
            <a:ext cx="867620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Real-time bidding using </a:t>
            </a:r>
            <a:r>
              <a:rPr lang="en-IN" sz="2000" dirty="0" err="1"/>
              <a:t>WebSockets</a:t>
            </a:r>
            <a:r>
              <a:rPr lang="en-IN" sz="2000" dirty="0"/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Automated/Proxy Bidding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Automatic bid validation based on minimum increments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Automated identification of the winning bid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Integrated payment gateway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Automatic digital invoice generation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Email and SMS notifications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Role-based access for Buyer/Seller/Admin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Centralized admin dashboard with performance reports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Complete auction lifecycle handled within one platform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836162-2560-E0E7-C5F1-2BA96DA8B023}"/>
              </a:ext>
            </a:extLst>
          </p:cNvPr>
          <p:cNvSpPr txBox="1"/>
          <p:nvPr/>
        </p:nvSpPr>
        <p:spPr>
          <a:xfrm>
            <a:off x="688257" y="1642332"/>
            <a:ext cx="10933471" cy="346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/>
              <a:t>Feasibility: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Technical Feasibility: Full-stack web application with WebSocket-based real-time communication and relational database.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Operational Feasibility: Simple roles for buyers, sellers and administrators.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Economic Feasibility: Web-based system reduces dependence on physical auction infrastructure.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Scalability: Architecture can support increasing users, auctions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88DDB-FC3D-2E68-BCFE-F3FFE00B6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FF23650-A465-1B67-CF55-C56A10256AD8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9FCCA-A394-FA64-E673-E8E596149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1310C-4180-EF8E-E95A-C2040306D680}"/>
              </a:ext>
            </a:extLst>
          </p:cNvPr>
          <p:cNvSpPr txBox="1"/>
          <p:nvPr/>
        </p:nvSpPr>
        <p:spPr>
          <a:xfrm>
            <a:off x="688257" y="1642332"/>
            <a:ext cx="10933471" cy="3464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dirty="0"/>
              <a:t>Feasibility: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Technical Feasibility: Full-stack web application with WebSocket-based real-time communication and relational database.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Operational Feasibility: Simple roles for buyers, sellers and administrators.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Economic Feasibility: Web-based system reduces dependence on physical auction infrastructure.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Scalability: Architecture can support increasing users, auctions and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173766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CF1797-5A00-4D89-EC95-6524FE623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6684" y="436026"/>
            <a:ext cx="9861755" cy="531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98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675</Words>
  <Application>Microsoft Office PowerPoint</Application>
  <PresentationFormat>Widescreen</PresentationFormat>
  <Paragraphs>108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Masuma Fathema</cp:lastModifiedBy>
  <cp:revision>34</cp:revision>
  <dcterms:created xsi:type="dcterms:W3CDTF">2026-08-08T06:33:56Z</dcterms:created>
  <dcterms:modified xsi:type="dcterms:W3CDTF">2026-09-14T12:20:01Z</dcterms:modified>
</cp:coreProperties>
</file>